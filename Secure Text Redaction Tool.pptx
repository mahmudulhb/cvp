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11" Type="http://schemas.openxmlformats.org/officeDocument/2006/relationships/image" Target="../media/image42.png"/><Relationship Id="rId10" Type="http://schemas.openxmlformats.org/officeDocument/2006/relationships/image" Target="../media/image41.png"/><Relationship Id="rId12" Type="http://schemas.openxmlformats.org/officeDocument/2006/relationships/image" Target="../media/image31.png"/><Relationship Id="rId9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43.png"/><Relationship Id="rId6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39.png"/><Relationship Id="rId9" Type="http://schemas.openxmlformats.org/officeDocument/2006/relationships/image" Target="../media/image45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Relationship Id="rId7" Type="http://schemas.openxmlformats.org/officeDocument/2006/relationships/image" Target="../media/image40.png"/><Relationship Id="rId8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49.png"/><Relationship Id="rId10" Type="http://schemas.openxmlformats.org/officeDocument/2006/relationships/image" Target="../media/image50.png"/><Relationship Id="rId9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13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23375" y="2670343"/>
            <a:ext cx="54906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Text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Redaction</a:t>
            </a:r>
            <a:r>
              <a:rPr b="1" i="0" lang="en-US" sz="5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Tool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931640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24000"/>
            <a:ext cx="522922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84999"/>
            <a:ext cx="5229225" cy="503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145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71550" y="1875532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Unstructured Risk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71550" y="2380357"/>
            <a:ext cx="44481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 the digital age, unstructured data often contains sensitive Personally Identifiable Information (PII). Handling this data manually poses significant risks:</a:t>
            </a:r>
            <a:endParaRPr sz="1600"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2405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314450" y="3923164"/>
            <a:ext cx="410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Compliance Risks:</a:t>
            </a:r>
            <a:r>
              <a:rPr b="0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GDPR, CCPA, and HIPAA require strict data handling.</a:t>
            </a:r>
            <a:endParaRPr sz="1600"/>
          </a:p>
        </p:txBody>
      </p:sp>
      <p:sp>
        <p:nvSpPr>
          <p:cNvPr id="99" name="Google Shape;99;p14"/>
          <p:cNvSpPr txBox="1"/>
          <p:nvPr/>
        </p:nvSpPr>
        <p:spPr>
          <a:xfrm>
            <a:off x="1314438" y="4677883"/>
            <a:ext cx="410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Leaks:</a:t>
            </a:r>
            <a:r>
              <a:rPr b="0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Accidental exposure of phone numbers, emails, or financial data.</a:t>
            </a:r>
            <a:endParaRPr sz="1600"/>
          </a:p>
        </p:txBody>
      </p:sp>
      <p:sp>
        <p:nvSpPr>
          <p:cNvPr id="100" name="Google Shape;100;p14"/>
          <p:cNvSpPr txBox="1"/>
          <p:nvPr/>
        </p:nvSpPr>
        <p:spPr>
          <a:xfrm>
            <a:off x="1314450" y="5481588"/>
            <a:ext cx="410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Manual Effort:</a:t>
            </a:r>
            <a:r>
              <a:rPr b="0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Human redaction is slow, expensive, and error-prone.</a:t>
            </a:r>
            <a:endParaRPr sz="1600"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24200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Privacy Challenge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226888"/>
            <a:ext cx="11030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9675" y="5481595"/>
            <a:ext cx="217109" cy="24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9675" y="4677870"/>
            <a:ext cx="217109" cy="24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9675" y="3980095"/>
            <a:ext cx="217109" cy="2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7475"/>
            <a:ext cx="5229225" cy="463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24050"/>
            <a:ext cx="280183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772275" y="2108001"/>
            <a:ext cx="4670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Hybrid Approach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72313" y="2546739"/>
            <a:ext cx="444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solution is a Flask-based web application that combines two powerful technologies to ensure comprehensive protection:</a:t>
            </a:r>
            <a:endParaRPr sz="1500"/>
          </a:p>
        </p:txBody>
      </p:sp>
      <p:sp>
        <p:nvSpPr>
          <p:cNvPr id="115" name="Google Shape;115;p15"/>
          <p:cNvSpPr txBox="1"/>
          <p:nvPr/>
        </p:nvSpPr>
        <p:spPr>
          <a:xfrm>
            <a:off x="7115175" y="3849897"/>
            <a:ext cx="4105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Regular Expressions (Regex):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high-precision detection of structured data like emails and credit cards.</a:t>
            </a:r>
            <a:endParaRPr sz="1500"/>
          </a:p>
        </p:txBody>
      </p:sp>
      <p:sp>
        <p:nvSpPr>
          <p:cNvPr id="116" name="Google Shape;116;p15"/>
          <p:cNvSpPr txBox="1"/>
          <p:nvPr/>
        </p:nvSpPr>
        <p:spPr>
          <a:xfrm>
            <a:off x="7115163" y="5042767"/>
            <a:ext cx="4105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spaCy NLP: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contextual understanding of named entities like people and organizations.</a:t>
            </a:r>
            <a:endParaRPr sz="1500"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581025"/>
            <a:ext cx="11581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Defense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81025" y="1352550"/>
            <a:ext cx="11030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859476"/>
            <a:ext cx="231100" cy="264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327" y="5042777"/>
            <a:ext cx="231100" cy="26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559" y="1909850"/>
            <a:ext cx="5482975" cy="37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3650"/>
            <a:ext cx="2586025" cy="28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5650" y="2483650"/>
            <a:ext cx="2586050" cy="28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2483650"/>
            <a:ext cx="2586025" cy="28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4925" y="2483650"/>
            <a:ext cx="2586050" cy="28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77891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76300" y="3579025"/>
            <a:ext cx="10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</a:t>
            </a:r>
            <a:r>
              <a:rPr b="1" lang="en-US" sz="160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6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sz="1600"/>
          </a:p>
        </p:txBody>
      </p:sp>
      <p:sp>
        <p:nvSpPr>
          <p:cNvPr id="133" name="Google Shape;133;p16"/>
          <p:cNvSpPr txBox="1"/>
          <p:nvPr/>
        </p:nvSpPr>
        <p:spPr>
          <a:xfrm>
            <a:off x="876300" y="4074318"/>
            <a:ext cx="199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robust backbone handling logic and data processing.</a:t>
            </a:r>
            <a:endParaRPr sz="1500"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0937" y="277891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3690916" y="3579025"/>
            <a:ext cx="88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Flask</a:t>
            </a:r>
            <a:endParaRPr sz="1600"/>
          </a:p>
        </p:txBody>
      </p:sp>
      <p:sp>
        <p:nvSpPr>
          <p:cNvPr id="136" name="Google Shape;136;p16"/>
          <p:cNvSpPr txBox="1"/>
          <p:nvPr/>
        </p:nvSpPr>
        <p:spPr>
          <a:xfrm>
            <a:off x="3690937" y="4074318"/>
            <a:ext cx="199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Lightweight WSGI framework for fast request handling.</a:t>
            </a:r>
            <a:endParaRPr sz="1500"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5575" y="277891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505575" y="3579025"/>
            <a:ext cx="881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spaCy</a:t>
            </a:r>
            <a:endParaRPr sz="1500"/>
          </a:p>
        </p:txBody>
      </p:sp>
      <p:sp>
        <p:nvSpPr>
          <p:cNvPr id="139" name="Google Shape;139;p16"/>
          <p:cNvSpPr txBox="1"/>
          <p:nvPr/>
        </p:nvSpPr>
        <p:spPr>
          <a:xfrm>
            <a:off x="6505575" y="4074318"/>
            <a:ext cx="199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Industrial-strength NLP for advanced entity recognition.</a:t>
            </a:r>
            <a:endParaRPr sz="1500"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0212" y="277891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20192" y="3579025"/>
            <a:ext cx="976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RegEx</a:t>
            </a:r>
            <a:endParaRPr sz="1600"/>
          </a:p>
        </p:txBody>
      </p:sp>
      <p:sp>
        <p:nvSpPr>
          <p:cNvPr id="142" name="Google Shape;142;p16"/>
          <p:cNvSpPr txBox="1"/>
          <p:nvPr/>
        </p:nvSpPr>
        <p:spPr>
          <a:xfrm>
            <a:off x="9320212" y="4074318"/>
            <a:ext cx="199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Pattern matching engine for rigid data formats.</a:t>
            </a:r>
            <a:endParaRPr sz="1500"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2931318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43337" y="293131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57975" y="293131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72612" y="293131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Technology Stack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81025" y="1352550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47936"/>
            <a:ext cx="5229225" cy="4943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20242"/>
            <a:ext cx="5229225" cy="279841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971550" y="1738461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use both?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71588" y="2137561"/>
            <a:ext cx="444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Relying on a single method creates gaps. Our hybrid engine resolves this by layering detection strategies:</a:t>
            </a:r>
            <a:endParaRPr sz="1500"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67737" y="2810767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6867854" y="3816038"/>
            <a:ext cx="425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Multi-Layered Security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05650" y="4382400"/>
            <a:ext cx="488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Combining deterministic rules with probabilistic AI.</a:t>
            </a:r>
            <a:endParaRPr sz="1500"/>
          </a:p>
        </p:txBody>
      </p:sp>
      <p:sp>
        <p:nvSpPr>
          <p:cNvPr id="161" name="Google Shape;161;p17"/>
          <p:cNvSpPr txBox="1"/>
          <p:nvPr/>
        </p:nvSpPr>
        <p:spPr>
          <a:xfrm>
            <a:off x="1314450" y="3220313"/>
            <a:ext cx="4105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Rigidity vs. Fluidity: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RegEx catches specific formats (IPs), while NLP catches semantic entities (Locations).</a:t>
            </a:r>
            <a:endParaRPr sz="1500"/>
          </a:p>
        </p:txBody>
      </p:sp>
      <p:sp>
        <p:nvSpPr>
          <p:cNvPr id="162" name="Google Shape;162;p17"/>
          <p:cNvSpPr txBox="1"/>
          <p:nvPr/>
        </p:nvSpPr>
        <p:spPr>
          <a:xfrm>
            <a:off x="1314450" y="4233684"/>
            <a:ext cx="4105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Overlap Resolution: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system intelligently prioritizes RegEx matches to prevent misclassification.</a:t>
            </a:r>
            <a:endParaRPr sz="1500"/>
          </a:p>
        </p:txBody>
      </p:sp>
      <p:sp>
        <p:nvSpPr>
          <p:cNvPr id="163" name="Google Shape;163;p17"/>
          <p:cNvSpPr txBox="1"/>
          <p:nvPr/>
        </p:nvSpPr>
        <p:spPr>
          <a:xfrm>
            <a:off x="1314450" y="5247055"/>
            <a:ext cx="410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Coverage: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Ensures that 100% of PII types are addressed.</a:t>
            </a:r>
            <a:endParaRPr sz="1500"/>
          </a:p>
        </p:txBody>
      </p:sp>
      <p:sp>
        <p:nvSpPr>
          <p:cNvPr id="164" name="Google Shape;164;p17"/>
          <p:cNvSpPr txBox="1"/>
          <p:nvPr/>
        </p:nvSpPr>
        <p:spPr>
          <a:xfrm>
            <a:off x="581025" y="566886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Detection Logic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81025" y="1338411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25841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427178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5285155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57387"/>
            <a:ext cx="5229225" cy="3724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29225" cy="372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971550" y="2347912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6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(Regex)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772275" y="2347912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3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 (NLP)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2395537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395537"/>
            <a:ext cx="3281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314450" y="2967037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PHONE_NUMBER: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Global formats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314450" y="3431827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EMAIL: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Standard patterns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314450" y="3896617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CREDIT_CARD: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Major providers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314450" y="4361408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IP_ADDRESS: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IPv4 validation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314450" y="4826198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URL: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Web links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115175" y="2967037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PERSON: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Names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115175" y="3431827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ORG: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Companies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115175" y="3896617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GPE/LOC: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Locations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115175" y="4361408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Natural language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115175" y="4826198"/>
            <a:ext cx="4105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MONEY: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Financials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Supported Entities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81025" y="1352550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0051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46992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93471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439950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486429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0051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46992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93471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439950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4864298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83272"/>
            <a:ext cx="1102995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1213" y="284514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549997"/>
            <a:ext cx="2536775" cy="1624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42221" y="284514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12033" y="3549997"/>
            <a:ext cx="2536775" cy="1624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3230" y="284514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43042" y="3549997"/>
            <a:ext cx="2536775" cy="1350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04239" y="284514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74050" y="3549997"/>
            <a:ext cx="2536775" cy="135061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727631" y="3750022"/>
            <a:ext cx="22435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781050" y="4254847"/>
            <a:ext cx="2136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Raw text received via API/UI.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3558640" y="3750022"/>
            <a:ext cx="22435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3612058" y="4254847"/>
            <a:ext cx="2136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Parallel RegEx &amp; NLP scan.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389649" y="3750022"/>
            <a:ext cx="22435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Resolve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443067" y="4254847"/>
            <a:ext cx="2136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Conflict prioritization.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9220657" y="3750022"/>
            <a:ext cx="22435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Sanitize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9274075" y="4254847"/>
            <a:ext cx="2136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Masking or removal.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Redaction Pipeline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81025" y="1352550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97459"/>
            <a:ext cx="5229225" cy="3044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97459"/>
            <a:ext cx="5229225" cy="304413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860345" y="3535709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Mask Mode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971550" y="4040534"/>
            <a:ext cx="44481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Replaces sensitive data with descriptive tags. Best for analytics.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60345" y="4779615"/>
            <a:ext cx="46705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"Call [PERSON]"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661070" y="3535709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Redact Mode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772275" y="4040534"/>
            <a:ext cx="44481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Completely removes the information. Best for public release.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661070" y="4779615"/>
            <a:ext cx="46705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"Call       "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1787" y="2707034"/>
            <a:ext cx="6477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72512" y="2707034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Flexible Modes</a:t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581025" y="1352550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581025" y="1809750"/>
            <a:ext cx="5190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Intuitive Interface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81025" y="2581275"/>
            <a:ext cx="4943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81025" y="276225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clean, responsive HTML5 interface designed for operational efficiency.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923925" y="3653730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Large input area for bulk text.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923925" y="4118520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Transparency: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Detailed entity breakdown table.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923925" y="4583310"/>
            <a:ext cx="4600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Speed: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One-click copy functionality.</a:t>
            </a:r>
            <a:endParaRPr/>
          </a:p>
        </p:txBody>
      </p:sp>
      <p:pic>
        <p:nvPicPr>
          <p:cNvPr descr="image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918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566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6214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1200" y="-94100"/>
            <a:ext cx="7139325" cy="705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50777"/>
            <a:ext cx="3486150" cy="2337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50777"/>
            <a:ext cx="3486150" cy="2337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50777"/>
            <a:ext cx="3486150" cy="2337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041302"/>
            <a:ext cx="28956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3041302"/>
            <a:ext cx="28956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3041302"/>
            <a:ext cx="28956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876300" y="3898552"/>
            <a:ext cx="2895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Types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76300" y="4250977"/>
            <a:ext cx="28956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Supported out of the box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4648200" y="3898552"/>
            <a:ext cx="2895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Engines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4648200" y="4250977"/>
            <a:ext cx="28956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Running in parallel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8420100" y="3898552"/>
            <a:ext cx="2895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8420100" y="4250977"/>
            <a:ext cx="28956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Stateless processing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Performance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581025" y="1352550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6472"/>
            <a:ext cx="2586025" cy="360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5650" y="2376472"/>
            <a:ext cx="2586050" cy="360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2376472"/>
            <a:ext cx="2586025" cy="360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4925" y="2376472"/>
            <a:ext cx="2586050" cy="360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6717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876300" y="3471862"/>
            <a:ext cx="110623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PDF Parsing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876300" y="3967162"/>
            <a:ext cx="19956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Direct upload support for PDF and Word documents, preserving original formatting.</a:t>
            </a:r>
            <a:endParaRPr sz="1500"/>
          </a:p>
        </p:txBody>
      </p:sp>
      <p:pic>
        <p:nvPicPr>
          <p:cNvPr descr="image.png" id="290" name="Google Shape;29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90937" y="26717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3690937" y="3471862"/>
            <a:ext cx="14583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 Models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3690937" y="3967162"/>
            <a:ext cx="19956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 spaCy on domain-specific legal or medical datasets for higher accuracy.</a:t>
            </a:r>
            <a:endParaRPr sz="1500"/>
          </a:p>
        </p:txBody>
      </p:sp>
      <p:pic>
        <p:nvPicPr>
          <p:cNvPr descr="image.png" id="293" name="Google Shape;29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5575" y="26717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6505575" y="3471862"/>
            <a:ext cx="81822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 API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505575" y="3967162"/>
            <a:ext cx="19956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Exposing the redaction engine as a JSON API for integration with enterprise tools.</a:t>
            </a:r>
            <a:endParaRPr sz="1500"/>
          </a:p>
        </p:txBody>
      </p:sp>
      <p:pic>
        <p:nvPicPr>
          <p:cNvPr descr="image.png" id="296" name="Google Shape;29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0212" y="267176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9320212" y="3471862"/>
            <a:ext cx="90823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SSO Auth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9320212" y="3967162"/>
            <a:ext cx="19956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Enterprise single sign-on integration for secure internal access management.</a:t>
            </a:r>
            <a:endParaRPr sz="1500"/>
          </a:p>
        </p:txBody>
      </p:sp>
      <p:pic>
        <p:nvPicPr>
          <p:cNvPr descr="image.png" id="299" name="Google Shape;29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43337" y="28241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9875" y="28241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1662" y="282416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814637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Roadmap</a:t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581025" y="1352550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3091794" y="2979100"/>
            <a:ext cx="6691800" cy="20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 b="1" sz="3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00">
              <a:solidFill>
                <a:srgbClr val="F8FAF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4543425" y="3813558"/>
            <a:ext cx="3105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 Cyber Vampire</a:t>
            </a:r>
            <a:endParaRPr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